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9" r:id="rId5"/>
    <p:sldId id="270" r:id="rId6"/>
    <p:sldId id="260" r:id="rId7"/>
    <p:sldId id="266" r:id="rId8"/>
    <p:sldId id="261" r:id="rId9"/>
    <p:sldId id="258" r:id="rId10"/>
    <p:sldId id="262" r:id="rId11"/>
    <p:sldId id="267" r:id="rId12"/>
    <p:sldId id="263" r:id="rId13"/>
    <p:sldId id="268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108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E52FC-F5BE-2E27-BC25-38472BFB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95EFD-2D76-1ABC-74C8-A8406CB0D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DA922-FB65-463A-67E0-905D25BC0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453E0-F9B8-AC83-AAE0-3A1E60B31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33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9A3E-88A7-32CE-99D5-E88A95CA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288C6-5271-4804-1273-58F999424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45ACB-874A-B785-8EC7-C5BAA4272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90E49-6761-73A9-0D54-5AD57C435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58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096B7">
              <a:alpha val="25000"/>
            </a:srgbClr>
          </a:solidFill>
          <a:ln w="12700">
            <a:solidFill>
              <a:srgbClr val="0096B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0" y="3840480"/>
            <a:ext cx="3200400" cy="3200400"/>
          </a:xfrm>
          <a:prstGeom prst="ellipse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PoseEmbroider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 3D, Visual, Semantic-aware Human Pose Representation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5943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Delmas • P. Weinzaepfel • F. Moreno-Noguer • G. Rogez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 CSIC-UPC Barcelona  |  NAVER LABS Europe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35204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F72585">
              <a:alpha val="70000"/>
            </a:srgbClr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83464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Learning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88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88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8328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Alignment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22402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images + text (like CLIP) creates powerful semantic embeddings that fuel image captioning and text-to-image generation.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72968" y="1005840"/>
            <a:ext cx="2788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7889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10128" y="1170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82696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Lacks Pose Precision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82696" y="22402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handles common poses (standing, sitting) but struggles with uncommon or complex human poses — it lacks fine-grained body awareness.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17336" y="1005840"/>
            <a:ext cx="2788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17336" y="1005840"/>
            <a:ext cx="2788920" cy="6400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54496" y="1170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27064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Pairing Problem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22402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poses have been paired with images (pose estimation) OR text (text-to-pose) — but rarely with BOTH simultaneously.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4160520"/>
            <a:ext cx="8686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8600" y="4160520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4206240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Solution: Combine 3D poses + person pictures + text descriptions → one unified, enriched pose embedding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 — What Existed Before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245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097280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94560" y="109728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↔ 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38988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3D poses with natural language descriptions for text-to-pose retrieval. Strong semantic embeddings — but no visual modality.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1005840"/>
            <a:ext cx="42245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90872" y="1005840"/>
            <a:ext cx="64008" cy="11430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73752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ChatPose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56832" y="1097280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7B5EA7">
              <a:alpha val="20000"/>
            </a:srgbClr>
          </a:solidFill>
          <a:ln w="12700">
            <a:solidFill>
              <a:srgbClr val="7B5E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56832" y="109728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+ Text → Pose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73752" y="138988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SMPL layer to a large vision-language model for pose estimation &amp; text-to-pose generation. Forces pose into textual space — may lose non-textual info.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286000"/>
            <a:ext cx="42245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2286000"/>
            <a:ext cx="64008" cy="1143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ImageBind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94560" y="2377440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A020">
              <a:alpha val="2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194560" y="237744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Alignment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267004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6 modalities (image, text, audio, depth, thermal, IMU) into one embedding space. Aligns shared info — doesn't combine modalities into a richer single representation.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90872" y="2286000"/>
            <a:ext cx="42245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90872" y="2286000"/>
            <a:ext cx="64008" cy="11430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73752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NExT-GPT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56832" y="2377440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F72585">
              <a:alpha val="20000"/>
            </a:srgbClr>
          </a:solidFill>
          <a:ln w="12700">
            <a:solidFill>
              <a:srgbClr val="F7258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56832" y="237744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Any-to-Any Generation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73752" y="267004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Any-to-any multimodal LLM using pretrained encoders + LLM + diffusion decoders. Converts modalities through text space — can lose modality-specific information.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3566160"/>
            <a:ext cx="42245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28600" y="3566160"/>
            <a:ext cx="64008" cy="11430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FixMyPose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94560" y="3657600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2E9E5B">
              <a:alpha val="20000"/>
            </a:srgbClr>
          </a:solidFill>
          <a:ln w="12700">
            <a:solidFill>
              <a:srgbClr val="2E9E5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194560" y="365760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Instruction Gen.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395020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first dataset for pose correctional captioning. Based on highly synthetic pose pairs from ~20 Unity dance motions.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90872" y="3566160"/>
            <a:ext cx="42245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90872" y="3566160"/>
            <a:ext cx="64008" cy="11430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73752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PoseFix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56832" y="3657600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0096B7">
              <a:alpha val="20000"/>
            </a:srgbClr>
          </a:solidFill>
          <a:ln w="12700">
            <a:solidFill>
              <a:srgbClr val="0096B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656832" y="365760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Instruction Gen.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73752" y="395020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instructions for correcting 3D poses using a text decoder conditioned on pose pairs. Limited to 3D pose input — cannot handle camera/image input.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01142-51AD-D79F-DD44-E42173B2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00D7CF-6245-9EE9-8269-FB4F6E65ED8B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D9C3BE-A7E3-A336-BEA9-0D688E0F2B60}"/>
              </a:ext>
            </a:extLst>
          </p:cNvPr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5ADE53-0D0E-F35B-843A-3A4FCA94C489}"/>
              </a:ext>
            </a:extLst>
          </p:cNvPr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980CF9A-CC71-F73F-8E37-6A8B3E108954}"/>
              </a:ext>
            </a:extLst>
          </p:cNvPr>
          <p:cNvSpPr/>
          <p:nvPr/>
        </p:nvSpPr>
        <p:spPr>
          <a:xfrm>
            <a:off x="228600" y="4160520"/>
            <a:ext cx="8686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E4BA892-EE8B-0E0E-DF71-D202244D928C}"/>
              </a:ext>
            </a:extLst>
          </p:cNvPr>
          <p:cNvSpPr/>
          <p:nvPr/>
        </p:nvSpPr>
        <p:spPr>
          <a:xfrm>
            <a:off x="228600" y="4160520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031A705-2A52-ABA5-F27A-C4B339B875AD}"/>
              </a:ext>
            </a:extLst>
          </p:cNvPr>
          <p:cNvSpPr/>
          <p:nvPr/>
        </p:nvSpPr>
        <p:spPr>
          <a:xfrm>
            <a:off x="411480" y="4206240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Solution: Combine 3D poses + person pictures + text descriptions → one unified, enriched pose embedding</a:t>
            </a:r>
            <a:endParaRPr lang="en-US" sz="13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2AFD457-591A-DD5D-2761-CF17B048D542}"/>
              </a:ext>
            </a:extLst>
          </p:cNvPr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AA74DBC-352D-EAB7-A063-F8A18732F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988" y="1021639"/>
            <a:ext cx="5092962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35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A55C-E92B-F6FE-C7E4-31752ABB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762F6A-02B0-224C-847F-1D55142751F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BA4439-D694-EC11-122F-80BB8B723CB8}"/>
              </a:ext>
            </a:extLst>
          </p:cNvPr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C43E2A-978B-A612-7484-575B5731A445}"/>
              </a:ext>
            </a:extLst>
          </p:cNvPr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PoseEmbroider Framework</a:t>
            </a:r>
            <a:endParaRPr lang="en-US" sz="26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FEF0A15C-ABCA-8DFD-7E6F-212B8AB2320C}"/>
              </a:ext>
            </a:extLst>
          </p:cNvPr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FF40DCA-1F17-E615-08C2-9E0737450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56" y="1248346"/>
            <a:ext cx="7503269" cy="338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01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PoseEmbroider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(Frozen)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2286000" cy="777240"/>
          </a:xfrm>
          <a:prstGeom prst="rect">
            <a:avLst/>
          </a:prstGeom>
          <a:solidFill>
            <a:srgbClr val="122333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1380744"/>
            <a:ext cx="475488" cy="475488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1168" y="1380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3075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618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tuned on human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2240280"/>
            <a:ext cx="2286000" cy="777240"/>
          </a:xfrm>
          <a:prstGeom prst="rect">
            <a:avLst/>
          </a:prstGeom>
          <a:solidFill>
            <a:srgbClr val="122333"/>
          </a:solidFill>
          <a:ln w="12700">
            <a:solidFill>
              <a:srgbClr val="833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01168" y="2386584"/>
            <a:ext cx="475488" cy="475488"/>
          </a:xfrm>
          <a:prstGeom prst="ellipse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1168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313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Pose Encoder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624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VPoser (22 joints)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3246120"/>
            <a:ext cx="2286000" cy="777240"/>
          </a:xfrm>
          <a:prstGeom prst="rect">
            <a:avLst/>
          </a:prstGeom>
          <a:solidFill>
            <a:srgbClr val="122333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01168" y="3392424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01168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319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6301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87168" y="2377440"/>
            <a:ext cx="411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6060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926080" y="1005840"/>
            <a:ext cx="2011680" cy="3749040"/>
          </a:xfrm>
          <a:prstGeom prst="rect">
            <a:avLst/>
          </a:prstGeom>
          <a:solidFill>
            <a:srgbClr val="122333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926080" y="100584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2608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144475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{x} + G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∈ S (any combination of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v, p, t modalities)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63240" y="2697480"/>
            <a:ext cx="1828800" cy="68580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063240" y="2697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x̄_G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(Multi-modal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embedding)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3474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Learnable global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aggregates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from all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modalities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HEADS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12080" y="1234440"/>
            <a:ext cx="1828800" cy="777240"/>
          </a:xfrm>
          <a:prstGeom prst="rect">
            <a:avLst/>
          </a:prstGeom>
          <a:solidFill>
            <a:srgbClr val="122333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230368" y="145389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70448" y="14538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v̂_G  (visual)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17556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projection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2240280"/>
            <a:ext cx="1828800" cy="777240"/>
          </a:xfrm>
          <a:prstGeom prst="rect">
            <a:avLst/>
          </a:prstGeom>
          <a:solidFill>
            <a:srgbClr val="122333"/>
          </a:solidFill>
          <a:ln w="12700">
            <a:solidFill>
              <a:srgbClr val="833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230368" y="245973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70448" y="24597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p̂_G  (pose)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30368" y="2761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projection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12080" y="3246120"/>
            <a:ext cx="1828800" cy="777240"/>
          </a:xfrm>
          <a:prstGeom prst="rect">
            <a:avLst/>
          </a:prstGeom>
          <a:solidFill>
            <a:srgbClr val="122333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230368" y="346557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70448" y="3465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t̂_G  (text)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30368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projection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69480" y="1188720"/>
            <a:ext cx="1737360" cy="2971800"/>
          </a:xfrm>
          <a:prstGeom prst="rect">
            <a:avLst/>
          </a:prstGeom>
          <a:solidFill>
            <a:srgbClr val="122333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269480" y="1188720"/>
            <a:ext cx="1737360" cy="3200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269480" y="1188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0" y="1572768"/>
            <a:ext cx="1645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Loss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modality m: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ℒ_c(m, m̂_G)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projected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and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encoding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input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subsets 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training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of Embroidering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3977640"/>
          </a:xfrm>
          <a:prstGeom prst="rect">
            <a:avLst/>
          </a:prstGeom>
          <a:solidFill>
            <a:srgbClr val="122333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Uni-Modal Contrastive Loss  (InfoNCE)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417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batch of size B, the loss for each modality m: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7922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029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2848" y="18470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17922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0" y="20299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22311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7889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3136392"/>
            <a:ext cx="658368" cy="27432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3136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temperature parameter (controls sharpness)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3547872"/>
            <a:ext cx="658368" cy="27432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35478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σ(y,z)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" y="3502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= yᵀz / (||y|| · ||z||)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3959352"/>
            <a:ext cx="658368" cy="27432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7472" y="39593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yi, zi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pair (same sample, different modality)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4370832"/>
            <a:ext cx="658368" cy="27432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7472" y="43708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yi, zj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78992" y="4325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pair (different samples)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960120"/>
            <a:ext cx="4206240" cy="3977640"/>
          </a:xfrm>
          <a:prstGeom prst="rect">
            <a:avLst/>
          </a:prstGeom>
          <a:solidFill>
            <a:srgbClr val="122333"/>
          </a:solidFill>
          <a:ln w="254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09160" y="960120"/>
            <a:ext cx="4206240" cy="38404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Loss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14173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across all input subsets G ∈ 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and dual modality combinations):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64608" y="2084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64608" y="23408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2743200"/>
            <a:ext cx="397764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800600" y="2743200"/>
            <a:ext cx="54864" cy="91440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3776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compare x̄G directly to m?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3776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comparison forces all modalities into one shared space → collapse to common info only. Instead, x̄G is projected via MLP to each modality's own space, then compared. This lets x̄G be richer than any single modality.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767328"/>
            <a:ext cx="397764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800600" y="3767328"/>
            <a:ext cx="54864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93776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Design: "Hallucinate" Missing Modalities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37760" y="41148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only pose {p} is given as input, the loss is applied on ALL modalities {v, p, t}. This forces x̄G to form sensible representations for modalities not present in the input — making the embedding truly multi-modal aware.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878A4B0-C750-0133-9C82-D194E2844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4" y="1725168"/>
            <a:ext cx="3977640" cy="10637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 &amp;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with Subset 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sample, pick a random subset G of modalities (e.g., just image, or image+text). Feed encoded modalities + learnable global token x into the Transformer.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 to Modality Spaces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487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output x̄_G is projected through modality-specific MLPs to produce v̂_G, p̂_G, t̂_G in their respective spaces.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063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Contrastive Loss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loss is computed between each projected output m̂_G and the original modality encoding m. This is summed over all modalities and all input subsets 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97764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Learnable Parameters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224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linear projection layers, transformer, and MLP heads are updated. All uni-modal encoders remain frozen throughout training.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20624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09160" y="960120"/>
            <a:ext cx="42062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BEDLAM-Script Dataset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517904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56048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BEDLAM synthetic dataset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56048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clothed humans in diverse environments with ground-truth 3D poses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185416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56048" y="2112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triplets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56048" y="2386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= (Human Image, 3D Pose, Text Description of pose)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2852928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56048" y="2779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56048" y="3054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training samples + 10K validation — selected by farthest-point sampling for diversity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520440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56048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56048" y="37216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pose descriptions per image via automatic captioning pipeline from PoseScript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4187952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56048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regime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56048" y="4389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input subsets S trained together for best single + dual query performance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170432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68580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685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1097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PoseEmbroider Framework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3990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transformer-based model that fuses 3D poses, images, and text into a single rich pose embedding space — trained on the new BEDLAM-Script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78992" y="18928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 side product: Any-to-any multi-modal retrieval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1170432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68580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" y="2331720"/>
            <a:ext cx="685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992" y="24231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Instruction Generation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27249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natural language instructions describing how to correct one pose into another — like an automated fitness coach. Trained on synthetic BEDLAM-Fix data but works on real images.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78992" y="321868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Application: At-home fitness coaching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8595360" cy="1170432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68580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3657600"/>
            <a:ext cx="685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78992" y="3749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Regression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40507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3D body pose/shape parameters from an image, with optional text cue for refinement — no retraining needed when adding text hints.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78992" y="454456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Application: 3D Human Mesh Recovery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1 — Pose Instruction Generation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1828800"/>
          </a:xfrm>
          <a:prstGeom prst="rect">
            <a:avLst/>
          </a:prstGeom>
          <a:solidFill>
            <a:srgbClr val="122333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8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What Is It?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natural language text that describes how to move from </a:t>
            </a: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A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(trainee's current pose) to </a:t>
            </a: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B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(target/trainer pose).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application: 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FF8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at-home fitness coaching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give automatic real-time feedback from camera input.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We Do 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0600" y="141732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 poses A and B with frozen PoseEmbroider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Fuse the pair using the TIRG module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 to an auto-regressive transformer text decoder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on BEDLAM-Fix (54K synthetic pairs)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Fine-tune on PoseFix-OOS (real human-written text)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926080"/>
            <a:ext cx="86868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2926080"/>
            <a:ext cx="54864" cy="64008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971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8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Advantage: Train on 3D poses → Deploy on real images, without retraining!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8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PoseEmbroider bridges the gap between clean 3D training data and real-world camera input at test time.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 Deep Dive — Instruction Generation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Input Processing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560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 A (source) and B (target) are each encoded by the frozen PoseEmbroider.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test time, any modality works: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 from camera (image)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PB from 3D library (pose)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 any mix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127248" y="960120"/>
            <a:ext cx="283464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833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27248" y="960120"/>
            <a:ext cx="2834640" cy="384048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18688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TIRG Fusion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417320"/>
            <a:ext cx="2560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embeddings x̄A and x̄B are fused using the TIRG module: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ffuse = TIRG(x̄A, x̄B)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captures the difference and direction from A → B, not just their concatenation.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61888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83464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834640" cy="38404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Text Decoding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417320"/>
            <a:ext cx="2560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ffuse conditions an auto-regressive transformer decoder via cross-attention: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= Decoder(ffuse)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correction instruction token by token.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315968"/>
            <a:ext cx="86868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4315968"/>
            <a:ext cx="54864" cy="6583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4352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8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Evaluation — R-Precision: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78608" y="435254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 model checks if the generated instruction correctly identifies the right pose pair from a pool of 200 candidates. This tests semantic accuracy beyond surface-level word overlap (unlike BLEU-4 / ROUGE-L which only check word similarity).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2 — SMPL Regression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54864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SMPL Regression?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SMPL body model parameters — joint rotations and body shape coefficients — from an input of any modality. Known as 3D Human Mesh Recovery when applied to images.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Person's image (+ optional text hint)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Full 3D body mesh reconstruction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54864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051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frozen PoseEmbroider features from image input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Iterative residual network predicts joint rotations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MLP regresses shape coefficients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on BEDLAM-Script (50K synthetic samples)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test time: add text cue freely — no retraining needed!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 Deep Dive — SMPL Regression Math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2148840"/>
          </a:xfrm>
          <a:prstGeom prst="rect">
            <a:avLst/>
          </a:prstGeom>
          <a:solidFill>
            <a:srgbClr val="122333"/>
          </a:solidFill>
          <a:ln w="25400">
            <a:solidFill>
              <a:srgbClr val="833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36576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Regression Head Predicts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3931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8338E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 — Joint Rotations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via iterative residual network.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mean pose, refines step by step.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212848"/>
            <a:ext cx="3931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— Shape Coefficients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Regressed via a separate MLP.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body shape (height, weight proportions).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206240" cy="2148840"/>
          </a:xfrm>
          <a:prstGeom prst="rect">
            <a:avLst/>
          </a:prstGeom>
          <a:solidFill>
            <a:srgbClr val="122333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2062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Cue Refinement — No Retraining!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28032" y="1417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image v + optional text hint t: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8032" y="1737360"/>
            <a:ext cx="397764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1828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 = Regressor( Embroider(v, t) 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234086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hint: "The right knee is unbent"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PoseEmbroider fuses image + text into x̄G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Regressor uses the refined embedding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Result: 11% better accuracy (pa-MPJPE)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— just pass extra text at inference!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218688"/>
            <a:ext cx="8686800" cy="1664208"/>
          </a:xfrm>
          <a:prstGeom prst="rect">
            <a:avLst/>
          </a:prstGeom>
          <a:solidFill>
            <a:srgbClr val="122333"/>
          </a:solidFill>
          <a:ln w="12700">
            <a:solidFill>
              <a:srgbClr val="833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3218688"/>
            <a:ext cx="8686800" cy="347472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3218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Accuracy Metric — pa-MPJPE (Procrustes-aligned Mean Per Joint Position Error)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023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distance in mm between predicted 3D joint positions and ground truth. Lower = better prediction.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65760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8338E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00400" y="3657600"/>
            <a:ext cx="2743200" cy="54864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9184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Procrustes-aligned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4023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measuring, the predicted mesh is optimally rotated/scaled to match ground truth. Removes global orientation errors.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365760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F7258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080760" y="3657600"/>
            <a:ext cx="2743200" cy="54864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7220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Numbers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4023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Aligner: 50mm → PoseEmbroider: 49mm → With text: 44mm. SOTA (SMPLer-X Huge): 43mm.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1170432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051560" cy="1170432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1887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9888" y="1078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89888" y="1371600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BEDLAM-Script dataset pipeline (images, 3D poses, text descriptions)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162763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frozen encoders: ViT (image), VPoser (pose), DistilBERT (text)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89888" y="1883664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modality-specific linear projection layers with ReLU activation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304288"/>
            <a:ext cx="8686800" cy="1170432"/>
          </a:xfrm>
          <a:prstGeom prst="rect">
            <a:avLst/>
          </a:prstGeom>
          <a:solidFill>
            <a:srgbClr val="122333"/>
          </a:solidFill>
          <a:ln w="12700">
            <a:solidFill>
              <a:srgbClr val="833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8600" y="2304288"/>
            <a:ext cx="1051560" cy="1170432"/>
          </a:xfrm>
          <a:prstGeom prst="rect">
            <a:avLst/>
          </a:prstGeom>
          <a:solidFill>
            <a:srgbClr val="8338EC">
              <a:alpha val="85000"/>
            </a:srgbClr>
          </a:solidFill>
          <a:ln w="12700">
            <a:solidFill>
              <a:srgbClr val="833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8600" y="24871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" y="2377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PoseEmbroider 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267004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Transformer with learnable global token x and modality tokens e_m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89888" y="2926080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variable input subsets G (single and dual modality inputs)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89888" y="318211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MLP re-projection heads for each modality output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602736"/>
            <a:ext cx="8686800" cy="1170432"/>
          </a:xfrm>
          <a:prstGeom prst="rect">
            <a:avLst/>
          </a:prstGeom>
          <a:solidFill>
            <a:srgbClr val="122333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3602736"/>
            <a:ext cx="1051560" cy="1170432"/>
          </a:xfrm>
          <a:prstGeom prst="rect">
            <a:avLst/>
          </a:prstGeom>
          <a:solidFill>
            <a:srgbClr val="F72585">
              <a:alpha val="85000"/>
            </a:srgbClr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28600" y="378561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89888" y="3675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89888" y="3968496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InfoNCE contrastive loss over all input subsets 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89888" y="422452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BEDLAM-Script and evaluate multi-modal retrieval (recall@K)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89888" y="4480560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downstream task: SMPL regression or instruction generation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24528" cy="1664208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78408" y="1143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393192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PoseEmbroider goes beyond aligning modalities — it combines them to create a richer, multi-modal-informed pose representation not constrained to any single modality's space.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90872" y="1005840"/>
            <a:ext cx="4224528" cy="1664208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28032" y="11704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40680" y="1143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28032" y="1664208"/>
            <a:ext cx="393192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28032" y="17556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combination of inputs (image, 3D pose, text) at test time without retraining. A single model handles all combinations gracefully.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834640"/>
            <a:ext cx="4224528" cy="1664208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9992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78408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Results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5760" y="3493008"/>
            <a:ext cx="393192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5844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the Aligner baseline by 2.9% mRecall (retrieval), +36–41% on pose instruction generation, and reaches near-SOTA on SMPL regression.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90872" y="2834640"/>
            <a:ext cx="4224528" cy="1664208"/>
          </a:xfrm>
          <a:prstGeom prst="rect">
            <a:avLst/>
          </a:prstGeom>
          <a:solidFill>
            <a:srgbClr val="1223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29992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🔮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068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828032" y="3493008"/>
            <a:ext cx="393192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28032" y="35844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data, more aggressive losses, broader modalities (depth, 2D keypoints), and learning from mixed uni/bi-modal datasets without full triplets.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1908</Words>
  <Application>Microsoft Office PowerPoint</Application>
  <PresentationFormat>On-screen Show (16:9)</PresentationFormat>
  <Paragraphs>260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PoseEmbroider - Research Paper Presentation</dc:title>
  <dc:subject>PptxGenJS Presentation</dc:subject>
  <dc:creator>PptxGenJS</dc:creator>
  <cp:lastModifiedBy>GOLLA JESWANTH KUMAR</cp:lastModifiedBy>
  <cp:revision>3</cp:revision>
  <dcterms:created xsi:type="dcterms:W3CDTF">2026-03-18T01:53:31Z</dcterms:created>
  <dcterms:modified xsi:type="dcterms:W3CDTF">2026-03-18T08:41:19Z</dcterms:modified>
</cp:coreProperties>
</file>